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A1F8C-B10B-C84D-94FC-B3DA01C1C20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02761-92A6-8544-9B98-D45CEE3CC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36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  <p:pic>
        <p:nvPicPr>
          <p:cNvPr id="19" name="Image 3" descr="sphe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822960"/>
            <a:ext cx="777240" cy="777240"/>
          </a:xfrm>
          <a:prstGeom prst="rect">
            <a:avLst/>
          </a:prstGeom>
        </p:spPr>
      </p:pic>
      <p:pic>
        <p:nvPicPr>
          <p:cNvPr id="20" name="Image 4" descr="bird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868680"/>
            <a:ext cx="548640" cy="329184"/>
          </a:xfrm>
          <a:prstGeom prst="rect">
            <a:avLst/>
          </a:prstGeom>
        </p:spPr>
      </p:pic>
      <p:pic>
        <p:nvPicPr>
          <p:cNvPr id="21" name="Image 5" descr="bir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1261872"/>
            <a:ext cx="384048" cy="228600"/>
          </a:xfrm>
          <a:prstGeom prst="rect">
            <a:avLst/>
          </a:prstGeom>
        </p:spPr>
      </p:pic>
      <p:sp>
        <p:nvSpPr>
          <p:cNvPr id="2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PRESENTATION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Qiskit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 Fest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· Team Details</a:t>
            </a:r>
            <a:endParaRPr lang="en-US" sz="1300" dirty="0"/>
          </a:p>
        </p:txBody>
      </p:sp>
      <p:pic>
        <p:nvPicPr>
          <p:cNvPr id="5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91840"/>
            <a:ext cx="1371600" cy="1371600"/>
          </a:xfrm>
          <a:prstGeom prst="rect">
            <a:avLst/>
          </a:prstGeom>
        </p:spPr>
      </p:pic>
      <p:pic>
        <p:nvPicPr>
          <p:cNvPr id="6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3429000"/>
            <a:ext cx="731520" cy="438912"/>
          </a:xfrm>
          <a:prstGeom prst="rect">
            <a:avLst/>
          </a:prstGeom>
        </p:spPr>
      </p:pic>
      <p:pic>
        <p:nvPicPr>
          <p:cNvPr id="7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3977640"/>
            <a:ext cx="502920" cy="301752"/>
          </a:xfrm>
          <a:prstGeom prst="rect">
            <a:avLst/>
          </a:prstGeom>
        </p:spPr>
      </p:pic>
      <p:pic>
        <p:nvPicPr>
          <p:cNvPr id="8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1720" y="4297680"/>
            <a:ext cx="384048" cy="2286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023360" y="8412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Participant Details</a:t>
            </a:r>
            <a:endParaRPr lang="en-US" sz="1600" dirty="0"/>
          </a:p>
        </p:txBody>
      </p:sp>
      <p:sp>
        <p:nvSpPr>
          <p:cNvPr id="10" name="Field: PROJECT TITLE"/>
          <p:cNvSpPr/>
          <p:nvPr/>
        </p:nvSpPr>
        <p:spPr>
          <a:xfrm>
            <a:off x="4023360" y="1261872"/>
            <a:ext cx="46634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9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ReliefQ</a:t>
            </a:r>
            <a:endParaRPr lang="en-US" sz="900" dirty="0"/>
          </a:p>
        </p:txBody>
      </p:sp>
      <p:sp>
        <p:nvSpPr>
          <p:cNvPr id="11" name="Field: TRACK"/>
          <p:cNvSpPr/>
          <p:nvPr/>
        </p:nvSpPr>
        <p:spPr>
          <a:xfrm>
            <a:off x="402336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9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and AIML</a:t>
            </a:r>
            <a:endParaRPr lang="en-US" sz="900" dirty="0"/>
          </a:p>
        </p:txBody>
      </p:sp>
      <p:sp>
        <p:nvSpPr>
          <p:cNvPr id="12" name="Field: TEAM NAME"/>
          <p:cNvSpPr/>
          <p:nvPr/>
        </p:nvSpPr>
        <p:spPr>
          <a:xfrm>
            <a:off x="640080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9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and Byte</a:t>
            </a:r>
            <a:endParaRPr lang="en-US" sz="900" dirty="0"/>
          </a:p>
        </p:txBody>
      </p:sp>
      <p:sp>
        <p:nvSpPr>
          <p:cNvPr id="13" name="Field: TEAM LEADER"/>
          <p:cNvSpPr/>
          <p:nvPr/>
        </p:nvSpPr>
        <p:spPr>
          <a:xfrm>
            <a:off x="402336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9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Syeda Hafsa</a:t>
            </a:r>
            <a:endParaRPr lang="en-US" sz="900" dirty="0"/>
          </a:p>
        </p:txBody>
      </p:sp>
      <p:sp>
        <p:nvSpPr>
          <p:cNvPr id="14" name="Field: EMAIL / CONTACT"/>
          <p:cNvSpPr/>
          <p:nvPr/>
        </p:nvSpPr>
        <p:spPr>
          <a:xfrm>
            <a:off x="640080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CONTACT</a:t>
            </a:r>
            <a:endParaRPr lang="en-US" sz="9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25ug1byai234@bmsit.in</a:t>
            </a:r>
            <a:endParaRPr lang="en-US" sz="900" dirty="0"/>
          </a:p>
        </p:txBody>
      </p:sp>
      <p:sp>
        <p:nvSpPr>
          <p:cNvPr id="15" name="Field: TEAM MEMBERS"/>
          <p:cNvSpPr/>
          <p:nvPr/>
        </p:nvSpPr>
        <p:spPr>
          <a:xfrm>
            <a:off x="4023360" y="3072384"/>
            <a:ext cx="4663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00" dirty="0"/>
          </a:p>
          <a:p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Syeda Hafsa (Team Leader)</a:t>
            </a:r>
            <a:b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Rubicia Angelina</a:t>
            </a:r>
            <a:endParaRPr lang="en-US" sz="900" dirty="0"/>
          </a:p>
        </p:txBody>
      </p:sp>
      <p:sp>
        <p:nvSpPr>
          <p:cNvPr id="16" name="Field: INSTITUTION / ORGANISATION"/>
          <p:cNvSpPr/>
          <p:nvPr/>
        </p:nvSpPr>
        <p:spPr>
          <a:xfrm>
            <a:off x="402336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/ ORGANISATION</a:t>
            </a:r>
            <a:endParaRPr lang="en-US" sz="9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 Institute of Technology</a:t>
            </a:r>
            <a:endParaRPr lang="en-US" sz="900" dirty="0"/>
          </a:p>
        </p:txBody>
      </p:sp>
      <p:sp>
        <p:nvSpPr>
          <p:cNvPr id="17" name="Field: COUNTRY"/>
          <p:cNvSpPr/>
          <p:nvPr/>
        </p:nvSpPr>
        <p:spPr>
          <a:xfrm>
            <a:off x="640080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9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96685" y="1828025"/>
            <a:ext cx="7942881" cy="2666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natural disasters such as floods, earthquakes, and cyclones, affected communities often face shortages of essential resources such as food, drinking water, medicines, and hygiene kits.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i="1" dirty="0">
              <a:solidFill>
                <a:srgbClr val="6F73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the same time, donations may be unevenly distributed, and relief centers may struggle to identify urgent needs and allocate available supplies efficiently.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i="1" dirty="0">
              <a:solidFill>
                <a:srgbClr val="6F73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ReliefQ</a:t>
            </a: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web-based disaster relief coordination system designed to connect donors, relief centers, and volunteers through a centralized platform. It allows donors to register available resources, relief centers to submit requests for essential supplies, and users to identify areas with the greatest needs.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i="1" dirty="0">
              <a:solidFill>
                <a:srgbClr val="6F73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incorporates</a:t>
            </a:r>
            <a:r>
              <a:rPr lang="en-US" sz="1200" b="1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AI-based resource optimization and Quantum Approximate Optimization Algorithm (QAOA) </a:t>
            </a: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explore efficient resource allocation strategies, alongside a classical greedy algorithm for comparison.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i="1" dirty="0">
              <a:solidFill>
                <a:srgbClr val="6F73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objective is to minimize resource shortages, prioritize critical requests, reduce wastage, and improve the speed and fairness of disaster relief distribution.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 &amp; Novelty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834A81E-788F-6772-0843-8228A55B99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787135"/>
              </p:ext>
            </p:extLst>
          </p:nvPr>
        </p:nvGraphicFramePr>
        <p:xfrm>
          <a:off x="538566" y="1601192"/>
          <a:ext cx="8066868" cy="314159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33434">
                  <a:extLst>
                    <a:ext uri="{9D8B030D-6E8A-4147-A177-3AD203B41FA5}">
                      <a16:colId xmlns:a16="http://schemas.microsoft.com/office/drawing/2014/main" val="2330917457"/>
                    </a:ext>
                  </a:extLst>
                </a:gridCol>
                <a:gridCol w="4033434">
                  <a:extLst>
                    <a:ext uri="{9D8B030D-6E8A-4147-A177-3AD203B41FA5}">
                      <a16:colId xmlns:a16="http://schemas.microsoft.com/office/drawing/2014/main" val="4141387265"/>
                    </a:ext>
                  </a:extLst>
                </a:gridCol>
              </a:tblGrid>
              <a:tr h="316446"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tx2"/>
                          </a:solidFill>
                        </a:rPr>
                        <a:t>Objectives</a:t>
                      </a:r>
                      <a:endParaRPr lang="en-IN" sz="1600" i="1" kern="1200" dirty="0">
                        <a:solidFill>
                          <a:schemeClr val="tx2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tx2"/>
                          </a:solidFill>
                        </a:rPr>
                        <a:t>Novelty</a:t>
                      </a:r>
                      <a:endParaRPr lang="en-IN" sz="1600" i="1" kern="1200" dirty="0">
                        <a:solidFill>
                          <a:schemeClr val="tx2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538592"/>
                  </a:ext>
                </a:extLst>
              </a:tr>
              <a:tr h="2143553"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connect donors, volunteers, and relief centers on one platform.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manage donations and requests for essential supplies.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prioritize relief requests based on urgency.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optimize resource allocation using QAOA and a classical greedy algorithm.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reduce resource shortages and wastage.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improve the efficiency and transparency of disaster relief.</a:t>
                      </a:r>
                      <a:endParaRPr lang="en-IN" sz="1200" i="1" kern="1200" dirty="0">
                        <a:solidFill>
                          <a:srgbClr val="6F7399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quantum computing and classical algorithms for resource allocation. 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Prioritizes emergency requests based on their urgency.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Connects donors and relief centers through a single platform.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both whole-request selection and partial resource allocation.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Provides a dashboard to compare allocation results.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Offers a technology-based approach to improving disaster relief coordination.</a:t>
                      </a:r>
                      <a:endParaRPr lang="en-IN" sz="1200" i="1" kern="1200" dirty="0">
                        <a:solidFill>
                          <a:srgbClr val="6F7399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4702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&amp; Quantum Advantage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28CB427-02A8-EDEF-D804-AA3E28D0B9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308"/>
              </p:ext>
            </p:extLst>
          </p:nvPr>
        </p:nvGraphicFramePr>
        <p:xfrm>
          <a:off x="450419" y="1574937"/>
          <a:ext cx="8243162" cy="314159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121581">
                  <a:extLst>
                    <a:ext uri="{9D8B030D-6E8A-4147-A177-3AD203B41FA5}">
                      <a16:colId xmlns:a16="http://schemas.microsoft.com/office/drawing/2014/main" val="2330917457"/>
                    </a:ext>
                  </a:extLst>
                </a:gridCol>
                <a:gridCol w="4121581">
                  <a:extLst>
                    <a:ext uri="{9D8B030D-6E8A-4147-A177-3AD203B41FA5}">
                      <a16:colId xmlns:a16="http://schemas.microsoft.com/office/drawing/2014/main" val="4141387265"/>
                    </a:ext>
                  </a:extLst>
                </a:gridCol>
              </a:tblGrid>
              <a:tr h="316446"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tx2"/>
                          </a:solidFill>
                        </a:rPr>
                        <a:t>Solution</a:t>
                      </a:r>
                      <a:endParaRPr lang="en-IN" sz="1600" i="1" kern="1200" dirty="0">
                        <a:solidFill>
                          <a:schemeClr val="tx2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tx2"/>
                          </a:solidFill>
                        </a:rPr>
                        <a:t>Quantum Advantage</a:t>
                      </a:r>
                      <a:endParaRPr lang="en-IN" sz="1600" i="1" kern="1200" dirty="0">
                        <a:solidFill>
                          <a:schemeClr val="tx2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538592"/>
                  </a:ext>
                </a:extLst>
              </a:tr>
              <a:tr h="2143553"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 a web platform connecting donors, volunteers, and disaster relief centers.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users to register donations and submit requests for essential supplies.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Prioritize requests based on urgency and resource availability.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QAOA and a classical greedy algorithm to optimize and compare resource allocation. 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allocation results, shortages, and resource requirements through a dashboard.</a:t>
                      </a:r>
                      <a:endParaRPr lang="en-IN" sz="1200" i="1" kern="1200" dirty="0">
                        <a:solidFill>
                          <a:srgbClr val="6F7399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Optimization</a:t>
                      </a:r>
                      <a:r>
                        <a:rPr lang="en-US" sz="1200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QAOA explores different combinations of relief requests to find promising allocation solutions. 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1200" i="1" kern="1200" dirty="0">
                        <a:solidFill>
                          <a:srgbClr val="6F7399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171450" indent="-171450" algn="l" defTabSz="9144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Decisions</a:t>
                      </a:r>
                      <a:r>
                        <a:rPr lang="en-US" sz="1200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It can be applied to resource allocation problems involving multiple constraints and limited supplies.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1200" i="1" kern="1200" dirty="0">
                        <a:solidFill>
                          <a:srgbClr val="6F7399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171450" indent="-171450" algn="l" defTabSz="9144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r>
                        <a:rPr lang="en-US" sz="1200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Comparing QAOA with a classical greedy algorithm helps evaluate their allocation results.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4702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&amp; Circuit Design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Insert area"/>
          <p:cNvSpPr/>
          <p:nvPr/>
        </p:nvSpPr>
        <p:spPr>
          <a:xfrm>
            <a:off x="201482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384362" y="187452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circuit diagram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qc.draw("mpl")</a:t>
            </a:r>
            <a:endParaRPr lang="en-US" sz="1400" dirty="0"/>
          </a:p>
        </p:txBody>
      </p:sp>
      <p:sp>
        <p:nvSpPr>
          <p:cNvPr id="8" name="Content card"/>
          <p:cNvSpPr/>
          <p:nvPr/>
        </p:nvSpPr>
        <p:spPr>
          <a:xfrm>
            <a:off x="5322121" y="1618488"/>
            <a:ext cx="3696435" cy="306974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Card accent"/>
          <p:cNvSpPr/>
          <p:nvPr/>
        </p:nvSpPr>
        <p:spPr>
          <a:xfrm>
            <a:off x="5550722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368615" y="1661265"/>
            <a:ext cx="3535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Demonstrates quantum computing for disaster relief resource allocation.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Qubits</a:t>
            </a: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4 qubits represent possible resource-allocation decisions.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Hadamard (H) gates</a:t>
            </a: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Create superposition to explore different possibilities.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CNOT gates</a:t>
            </a: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Introduce entanglement between qubits.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RZ and RX gates</a:t>
            </a: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Apply rotations to modify quantum states.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Generate candidate allocation decisions for analysis.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13291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5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E7FB8D-73D0-63F3-D051-6998D538F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44" y="1618488"/>
            <a:ext cx="5112987" cy="30697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701766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&amp; Tech Stack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292562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 accent"/>
          <p:cNvSpPr/>
          <p:nvPr/>
        </p:nvSpPr>
        <p:spPr>
          <a:xfrm>
            <a:off x="731520" y="1292562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itle accent"/>
          <p:cNvSpPr/>
          <p:nvPr/>
        </p:nvSpPr>
        <p:spPr>
          <a:xfrm>
            <a:off x="1005840" y="1292562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6</a:t>
            </a:fld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05B702F-5065-7A11-6761-5504D4D07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859722"/>
              </p:ext>
            </p:extLst>
          </p:nvPr>
        </p:nvGraphicFramePr>
        <p:xfrm>
          <a:off x="162732" y="1319215"/>
          <a:ext cx="8818536" cy="341591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369804">
                  <a:extLst>
                    <a:ext uri="{9D8B030D-6E8A-4147-A177-3AD203B41FA5}">
                      <a16:colId xmlns:a16="http://schemas.microsoft.com/office/drawing/2014/main" val="2330917457"/>
                    </a:ext>
                  </a:extLst>
                </a:gridCol>
                <a:gridCol w="2448732">
                  <a:extLst>
                    <a:ext uri="{9D8B030D-6E8A-4147-A177-3AD203B41FA5}">
                      <a16:colId xmlns:a16="http://schemas.microsoft.com/office/drawing/2014/main" val="4141387265"/>
                    </a:ext>
                  </a:extLst>
                </a:gridCol>
              </a:tblGrid>
              <a:tr h="319718"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tx2"/>
                          </a:solidFill>
                        </a:rPr>
                        <a:t>Implementation</a:t>
                      </a:r>
                      <a:endParaRPr lang="en-IN" sz="1600" i="1" kern="1200" dirty="0">
                        <a:solidFill>
                          <a:schemeClr val="tx2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tx2"/>
                          </a:solidFill>
                        </a:rPr>
                        <a:t>Tech Stack</a:t>
                      </a:r>
                      <a:endParaRPr lang="en-IN" sz="1600" i="1" kern="1200" dirty="0">
                        <a:solidFill>
                          <a:schemeClr val="tx2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538592"/>
                  </a:ext>
                </a:extLst>
              </a:tr>
              <a:tr h="2937653"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Interface</a:t>
                      </a:r>
                      <a:r>
                        <a:rPr lang="en-US" sz="1200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Develop a web application using Streamlit for donors and relief centers.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Management: </a:t>
                      </a:r>
                      <a:r>
                        <a:rPr lang="en-US" sz="1200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donation details, available resources, and relief requests using Python data structures or CSV files.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Prioritization</a:t>
                      </a:r>
                      <a:r>
                        <a:rPr lang="en-US" sz="1200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Rank relief requests according to urgency and resource requirements.* 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Quantum Optimization</a:t>
                      </a:r>
                      <a:r>
                        <a:rPr lang="en-US" sz="1200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Implement QAOA using Qiskit to select suitable relief requests under resource constraints.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Optimization:</a:t>
                      </a:r>
                      <a:r>
                        <a:rPr lang="en-US" sz="1200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Implement a greedy algorithm to allocate available resources and compare its results with QAOA.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Visualization:</a:t>
                      </a:r>
                      <a:r>
                        <a:rPr lang="en-US" sz="1200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Display resource allocation, unmet demands, and comparison results on an interactive dashboard.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Deployment:</a:t>
                      </a:r>
                      <a:r>
                        <a:rPr lang="en-US" sz="1200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Host the application online using Streamlit Community Cloud.</a:t>
                      </a:r>
                      <a:endParaRPr lang="en-IN" sz="1200" i="1" kern="1200" dirty="0">
                        <a:solidFill>
                          <a:srgbClr val="6F7399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                   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                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Qiskit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 &amp; Pandas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Matplotlib               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/ SQLite              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Colab              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i="1" kern="1200" dirty="0">
                          <a:solidFill>
                            <a:srgbClr val="6F7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Community Cloud.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4702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Analysis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results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Histogram, plot or table</a:t>
            </a:r>
            <a:endParaRPr lang="en-US" sz="1400" dirty="0"/>
          </a:p>
        </p:txBody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806440" y="2230980"/>
            <a:ext cx="2578143" cy="1673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</a:t>
            </a: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Disaster relief coordination.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Quantum:</a:t>
            </a: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QAOA optimization.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Classical:</a:t>
            </a: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Greedy algorithm.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</a:t>
            </a: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Streamlit, Qiskit.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Efficient resource allocation.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</a:t>
            </a: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Prioritize urgent needs.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7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E4C6C7-B08D-5382-C902-1629189189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423"/>
          <a:stretch>
            <a:fillRect/>
          </a:stretch>
        </p:blipFill>
        <p:spPr>
          <a:xfrm>
            <a:off x="407189" y="1635071"/>
            <a:ext cx="5079211" cy="30151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Real-World Applications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31520" y="2077974"/>
            <a:ext cx="7676756" cy="2153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disaster relief coordination and resource distribution.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i="1" dirty="0">
              <a:solidFill>
                <a:srgbClr val="6F73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Prioritizes urgent needs and reduces wastage of essential supplies.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i="1" dirty="0">
              <a:solidFill>
                <a:srgbClr val="6F73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donors, NGOs, and relief centers work together efficiently.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i="1" dirty="0">
              <a:solidFill>
                <a:srgbClr val="6F73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food, water, and medicine distribution during floods, earthquakes, and cyclones.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i="1" dirty="0">
              <a:solidFill>
                <a:srgbClr val="6F73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Assists hospitals, emergency shelters, and government agencies in managing limited resources.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i="1" dirty="0">
              <a:solidFill>
                <a:srgbClr val="6F73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quantum and classical optimization to explore better allocation strategies.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Future Scope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31519" y="1874520"/>
            <a:ext cx="7676311" cy="2318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Shortages</a:t>
            </a: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Improve allocation when supplies are limited and demand is high.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Accuracy</a:t>
            </a: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Maintain updated donation records and relief requests.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Complexity</a:t>
            </a: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Develop effective QAOA circuits for resource optimization.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</a:t>
            </a: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Evaluate QAOA and greedy algorithms using allocation results.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Integration:</a:t>
            </a: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Predict future resource requirements and prioritize urgent needs.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</a:t>
            </a: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Monitor available supplies and shortages.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</a:t>
            </a: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Identify efficient delivery routes to relief centers.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Expansion</a:t>
            </a: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Integrate ReliefQ with NGOs, government agencies, and mobile applications.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Inspiring Minds. Shaping Tomorrow.</a:t>
            </a:r>
            <a:endParaRPr lang="en-US" sz="1300" dirty="0"/>
          </a:p>
        </p:txBody>
      </p:sp>
      <p:sp>
        <p:nvSpPr>
          <p:cNvPr id="5" name="Field: GITHUB REPOSITORY"/>
          <p:cNvSpPr/>
          <p:nvPr/>
        </p:nvSpPr>
        <p:spPr>
          <a:xfrm>
            <a:off x="457200" y="3291840"/>
            <a:ext cx="2286000" cy="93726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</a:p>
          <a:p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https://github.com/vtu-qiskit-fall-fest-2026/vtu-hc-bit-and-byte</a:t>
            </a:r>
            <a:endParaRPr lang="en-US" sz="900" dirty="0"/>
          </a:p>
        </p:txBody>
      </p:sp>
      <p:sp>
        <p:nvSpPr>
          <p:cNvPr id="6" name="Field: DEMO VIDEO LINK"/>
          <p:cNvSpPr/>
          <p:nvPr/>
        </p:nvSpPr>
        <p:spPr>
          <a:xfrm>
            <a:off x="2834640" y="329184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LINK</a:t>
            </a:r>
            <a:endParaRPr lang="en-US" sz="9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https://youtu.be/Lhj1XXKMHxo</a:t>
            </a:r>
            <a:endParaRPr lang="en-US" sz="900" dirty="0"/>
          </a:p>
        </p:txBody>
      </p:sp>
      <p:pic>
        <p:nvPicPr>
          <p:cNvPr id="7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97280"/>
            <a:ext cx="3200400" cy="3200400"/>
          </a:xfrm>
          <a:prstGeom prst="rect">
            <a:avLst/>
          </a:prstGeom>
        </p:spPr>
      </p:pic>
      <p:pic>
        <p:nvPicPr>
          <p:cNvPr id="8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914400"/>
            <a:ext cx="822960" cy="493776"/>
          </a:xfrm>
          <a:prstGeom prst="rect">
            <a:avLst/>
          </a:prstGeom>
        </p:spPr>
      </p:pic>
      <p:pic>
        <p:nvPicPr>
          <p:cNvPr id="9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840480"/>
            <a:ext cx="548640" cy="329184"/>
          </a:xfrm>
          <a:prstGeom prst="rect">
            <a:avLst/>
          </a:prstGeom>
        </p:spPr>
      </p:pic>
      <p:pic>
        <p:nvPicPr>
          <p:cNvPr id="10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023360"/>
            <a:ext cx="457200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Qiskit Fall Fest">
  <a:themeElements>
    <a:clrScheme name="Qiskit Fall Fest">
      <a:dk1>
        <a:srgbClr val="2E1B5B"/>
      </a:dk1>
      <a:lt1>
        <a:srgbClr val="FFFFFF"/>
      </a:lt1>
      <a:dk2>
        <a:srgbClr val="4B2BA8"/>
      </a:dk2>
      <a:lt2>
        <a:srgbClr val="DDE2FC"/>
      </a:lt2>
      <a:accent1>
        <a:srgbClr val="E0558F"/>
      </a:accent1>
      <a:accent2>
        <a:srgbClr val="6B3FD4"/>
      </a:accent2>
      <a:accent3>
        <a:srgbClr val="F5C33B"/>
      </a:accent3>
      <a:accent4>
        <a:srgbClr val="3B82F6"/>
      </a:accent4>
      <a:accent5>
        <a:srgbClr val="7B58B8"/>
      </a:accent5>
      <a:accent6>
        <a:srgbClr val="2BB5A0"/>
      </a:accent6>
      <a:hlink>
        <a:srgbClr val="6B3FD4"/>
      </a:hlink>
      <a:folHlink>
        <a:srgbClr val="4B2BA8"/>
      </a:folHlink>
    </a:clrScheme>
    <a:fontScheme name="Qiskit Fall Fest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944</Words>
  <Application>Microsoft Office PowerPoint</Application>
  <PresentationFormat>On-screen Show (16:9)</PresentationFormat>
  <Paragraphs>143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Georgia</vt:lpstr>
      <vt:lpstr>Nirmala UI</vt:lpstr>
      <vt:lpstr>Qiskit Fall Fest</vt:lpstr>
      <vt:lpstr>PowerPoint Presentation</vt:lpstr>
      <vt:lpstr>Problem Statement</vt:lpstr>
      <vt:lpstr>Objectives &amp; Novelty</vt:lpstr>
      <vt:lpstr>Solution &amp; Quantum Advantage</vt:lpstr>
      <vt:lpstr>Algorithm &amp; Circuit Design</vt:lpstr>
      <vt:lpstr>Implementation &amp; Tech Stack</vt:lpstr>
      <vt:lpstr>Results &amp; Analysis</vt:lpstr>
      <vt:lpstr>Impact &amp; Real-World Applications</vt:lpstr>
      <vt:lpstr>Challenges &amp; 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Vanitha Crossley</cp:lastModifiedBy>
  <cp:revision>8</cp:revision>
  <dcterms:modified xsi:type="dcterms:W3CDTF">2026-10-23T09:50:12Z</dcterms:modified>
</cp:coreProperties>
</file>